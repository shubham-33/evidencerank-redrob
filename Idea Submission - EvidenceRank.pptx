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EvidenceRank</a:t>
            </a:r>
          </a:p>
          <a:p>
            <a:r>
              <a:rPr sz="2000">
                <a:solidFill>
                  <a:srgbClr val="8EC5F0"/>
                </a:solidFill>
              </a:rPr>
              <a:t>Intelligent Candidate Discovery &amp; Ranking — Redrob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800">
                <a:solidFill>
                  <a:srgbClr val="8EC5F0"/>
                </a:solidFill>
              </a:rPr>
              <a:t>Team Name:  </a:t>
            </a:r>
            <a:r>
              <a:rPr sz="1600">
                <a:solidFill>
                  <a:srgbClr val="EAF1F8"/>
                </a:solidFill>
              </a:rPr>
              <a:t>Hunter Association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8EC5F0"/>
                </a:solidFill>
              </a:rPr>
              <a:t>Problem Statement:  </a:t>
            </a:r>
            <a:r>
              <a:rPr sz="1600">
                <a:solidFill>
                  <a:srgbClr val="EAF1F8"/>
                </a:solidFill>
              </a:rPr>
              <a:t>Rank the top 100 of 100,000 candidates against a Senior AI Engineer JD by genuine fit (not keywords), within a CPU-only, ≤5-min, no-network budget.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8EC5F0"/>
                </a:solidFill>
              </a:rPr>
              <a:t>Team Leader Name:  </a:t>
            </a:r>
            <a:r>
              <a:rPr sz="1600">
                <a:solidFill>
                  <a:srgbClr val="EAF1F8"/>
                </a:solidFill>
              </a:rPr>
              <a:t>Shubham Mittal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Solution Overview</a:t>
            </a:r>
          </a:p>
          <a:p>
            <a:r>
              <a:rPr sz="1300" i="1">
                <a:solidFill>
                  <a:srgbClr val="CFDEEE"/>
                </a:solidFill>
              </a:rPr>
              <a:t>What is your proposed solution? What differentiates it from traditional matching?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6FB2"/>
                </a:solidFill>
              </a:rPr>
              <a:t>• Proposed solution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6"/>
                </a:solidFill>
              </a:rPr>
              <a:t>• EvidenceRank: a deterministic, dependency-free ranker that scores candidates on grounded evidence of fit. Each candidate becomes (requirement, evidence, satisfaction) triples derived from a declarative model of the JD.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6FB2"/>
                </a:solidFill>
              </a:rPr>
              <a:t>• What differentiates it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04046"/>
                </a:solidFill>
              </a:rPr>
              <a:t>– Evidence over keywords — a skill counts only if backed by endorsements × duration × assessment, defeating keyword-stuffers.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04046"/>
                </a:solidFill>
              </a:rPr>
              <a:t>– Bidirectional behavioral signals — down-weights stale / unresponsive candidates who can't actually be hired, exactly as the JD instructs.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04046"/>
                </a:solidFill>
              </a:rPr>
              <a:t>– Honeypot consistency gate — internally-impossible profiles forced out (0 in the top 100).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04046"/>
                </a:solidFill>
              </a:rPr>
              <a:t>– Every design choice kept or rejected by an offline eval harness, never by intuition.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04046"/>
                </a:solidFill>
              </a:rPr>
              <a:t>– No LLM during ranking → fully reproducible, CPU-only, ~12s for 100K candidates.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JD Understanding &amp; Candidate Evaluation</a:t>
            </a:r>
          </a:p>
          <a:p>
            <a:r>
              <a:rPr sz="1300" i="1">
                <a:solidFill>
                  <a:srgbClr val="CFDEEE"/>
                </a:solidFill>
              </a:rPr>
              <a:t>Key requirements · most important signals · evaluating fit beyond keywords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6FB2"/>
                </a:solidFill>
              </a:rPr>
              <a:t>• Key requirements extracted (declarative requirements.json, each quoting the JD)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04046"/>
                </a:solidFill>
              </a:rPr>
              <a:t>– Must-have: embeddings/retrieval, vector DB / hybrid search, shipped ranking-search-recsys at product companies, strong Python, evaluation frameworks (NDCG/MRR/MAP), 5–9 yrs, Noida/Pune/India.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04046"/>
                </a:solidFill>
              </a:rPr>
              <a:t>– Anti-patterns: keyword stuffers, consulting-only, research-only, CV/speech-only, title-chasers.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6FB2"/>
                </a:solidFill>
              </a:rPr>
              <a:t>• Most important signals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04046"/>
                </a:solidFill>
              </a:rPr>
              <a:t>– Builder identity (title), trust-weighted core skills, career evidence of shipped systems, and behavioral availability (recruiter response rate, recency, open-to-work).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6FB2"/>
                </a:solidFill>
              </a:rPr>
              <a:t>• Beyond keyword matching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04046"/>
                </a:solidFill>
              </a:rPr>
              <a:t>– Reasons about the gap between what the JD says vs. means; trust-weights claims; weighs whether the candidate is actually hireable; detects subtly-impossible honeypots.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Ranking Methodology</a:t>
            </a:r>
          </a:p>
          <a:p>
            <a:r>
              <a:rPr sz="1300" i="1">
                <a:solidFill>
                  <a:srgbClr val="CFDEEE"/>
                </a:solidFill>
              </a:rPr>
              <a:t>How candidates are retrieved, scored &amp; ranked · models/heuristics · signal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6FB2"/>
                </a:solidFill>
              </a:rPr>
              <a:t>• Retrieve → score → rank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04046"/>
                </a:solidFill>
              </a:rPr>
              <a:t>– Single streaming pass over 100K, top-K min-heap, deterministic tie-break (rounded score, then candidate_id ascending — matches the validator).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6FB2"/>
                </a:solidFill>
              </a:rPr>
              <a:t>• Scoring model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04046"/>
                </a:solidFill>
              </a:rPr>
              <a:t>– final = base × trap_penalties × behavioral_modifier ; honeypots forced ≈ 0.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04046"/>
                </a:solidFill>
              </a:rPr>
              <a:t>– base = weighted sum of six grounded components — builder 0.22, skills 0.20, career 0.26, experience 0.16, location 0.10, eval 0.06.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6FB2"/>
                </a:solidFill>
              </a:rPr>
              <a:t>• Heuristics (explainable, no ML black box)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04046"/>
                </a:solidFill>
              </a:rPr>
              <a:t>– Skill trust-weighting; floored temporal decay on career recency; floored behavioral multiplier; multiplicative trap penalties. Weights tuned against a hand-labeled gold 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Explainability &amp; Data Validation</a:t>
            </a:r>
          </a:p>
          <a:p>
            <a:r>
              <a:rPr sz="1300" i="1">
                <a:solidFill>
                  <a:srgbClr val="CFDEEE"/>
                </a:solidFill>
              </a:rPr>
              <a:t>Explaining decisions · preventing hallucination · handling suspicious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6FB2"/>
                </a:solidFill>
              </a:rPr>
              <a:t>• How decisions are explained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04046"/>
                </a:solidFill>
              </a:rPr>
              <a:t>– Every score is a list of (requirement, evidence, satisfaction) triples, each tied to a verbatim JD quote; the reasoning cites named skills, the company of the strongest retrieval role, and eval signals.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6FB2"/>
                </a:solidFill>
              </a:rPr>
              <a:t>• Preventing hallucination / unsupported justifications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04046"/>
                </a:solidFill>
              </a:rPr>
              <a:t>– Reasoning is generated deterministically from actual profile fields — no LLM, so every claim is grounded; nothing is invented.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6FB2"/>
                </a:solidFill>
              </a:rPr>
              <a:t>• Inconsistent / low-quality / suspicious profiles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04046"/>
                </a:solidFill>
              </a:rPr>
              <a:t>– Honeypot internal-consistency checks (job duration &gt; its window, experience &gt; career span, ≥5 'expert' skills with 0 months used) push them out.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04046"/>
                </a:solidFill>
              </a:rPr>
              <a:t>– Keyword-stuffer title gate + skill trust-weighting discount unbacked claims.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End-to-End Workflow</a:t>
            </a:r>
          </a:p>
          <a:p>
            <a:r>
              <a:rPr sz="1300" i="1">
                <a:solidFill>
                  <a:srgbClr val="CFDEEE"/>
                </a:solidFill>
              </a:rPr>
              <a:t>From JD input to ranked candidate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404046"/>
                </a:solidFill>
              </a:rPr>
              <a:t>• 1. JD → declarative requirements model (offline, one-time).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04046"/>
                </a:solidFill>
              </a:rPr>
              <a:t>• 2. Stream candidates.jsonl (100K, line by line).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04046"/>
                </a:solidFill>
              </a:rPr>
              <a:t>• 3. Honeypot consistency gate → impossible profiles forced near-zero.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04046"/>
                </a:solidFill>
              </a:rPr>
              <a:t>• 4. Evidence matching → (requirement, evidence, satisfaction) triples per candidate.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04046"/>
                </a:solidFill>
              </a:rPr>
              <a:t>• 5. Trust-weight skills · temporal decay · behavioral multiplier · trap penalties.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04046"/>
                </a:solidFill>
              </a:rPr>
              <a:t>• 6. Combine → final score; maintain a top-100 heap.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04046"/>
                </a:solidFill>
              </a:rPr>
              <a:t>• 7. Deterministic sort → grounded 1–2 sentence reasoning per candidate.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04046"/>
                </a:solidFill>
              </a:rPr>
              <a:t>• 8. Spec-compliant CSV → organizer validator → 'Submission is valid.'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System Architecture</a:t>
            </a:r>
          </a:p>
          <a:p>
            <a:r>
              <a:rPr sz="1300" i="1">
                <a:solidFill>
                  <a:srgbClr val="CFDEEE"/>
                </a:solidFill>
              </a:rPr>
              <a:t>Three tiers — offline model · CPU-only ranking step · evaluation harness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3108960" cy="640080"/>
          </a:xfrm>
          <a:prstGeom prst="rect">
            <a:avLst/>
          </a:prstGeom>
          <a:solidFill>
            <a:srgbClr val="1F6FB2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TIER 0 · OFFLINE (no time limit)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3108960" cy="914400"/>
          </a:xfrm>
          <a:prstGeom prst="rect">
            <a:avLst/>
          </a:prstGeom>
          <a:solidFill>
            <a:srgbClr val="F2F5F8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02A43"/>
                </a:solidFill>
              </a:rPr>
              <a:t>Job Description →
requirements.json
(each requirement quotes the JD)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371600"/>
            <a:ext cx="7498079" cy="640080"/>
          </a:xfrm>
          <a:prstGeom prst="rect">
            <a:avLst/>
          </a:prstGeom>
          <a:solidFill>
            <a:srgbClr val="1B8A5A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TIER 1 · RANKING STEP — CPU only · no network · ≤5 min (reproduced at Stage 3)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2103120"/>
            <a:ext cx="1188720" cy="914400"/>
          </a:xfrm>
          <a:prstGeom prst="rect">
            <a:avLst/>
          </a:prstGeom>
          <a:solidFill>
            <a:srgbClr val="F2F5F8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02A43"/>
                </a:solidFill>
              </a:rPr>
              <a:t>Stream
100K</a:t>
            </a:r>
          </a:p>
        </p:txBody>
      </p:sp>
      <p:sp>
        <p:nvSpPr>
          <p:cNvPr id="8" name="Rectangle 7"/>
          <p:cNvSpPr/>
          <p:nvPr/>
        </p:nvSpPr>
        <p:spPr>
          <a:xfrm>
            <a:off x="5367528" y="2103120"/>
            <a:ext cx="1188720" cy="914400"/>
          </a:xfrm>
          <a:prstGeom prst="rect">
            <a:avLst/>
          </a:prstGeom>
          <a:solidFill>
            <a:srgbClr val="F2F5F8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02A43"/>
                </a:solidFill>
              </a:rPr>
              <a:t>Honeypot
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0256" y="2103120"/>
            <a:ext cx="1188720" cy="914400"/>
          </a:xfrm>
          <a:prstGeom prst="rect">
            <a:avLst/>
          </a:prstGeom>
          <a:solidFill>
            <a:srgbClr val="F2F5F8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02A43"/>
                </a:solidFill>
              </a:rPr>
              <a:t>Evidence
triples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72983" y="2103120"/>
            <a:ext cx="1188720" cy="914400"/>
          </a:xfrm>
          <a:prstGeom prst="rect">
            <a:avLst/>
          </a:prstGeom>
          <a:solidFill>
            <a:srgbClr val="F2F5F8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02A43"/>
                </a:solidFill>
              </a:rPr>
              <a:t>Trust + decay
+ behavioral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25712" y="2103120"/>
            <a:ext cx="1188720" cy="914400"/>
          </a:xfrm>
          <a:prstGeom prst="rect">
            <a:avLst/>
          </a:prstGeom>
          <a:solidFill>
            <a:srgbClr val="F2F5F8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02A43"/>
                </a:solidFill>
              </a:rPr>
              <a:t>Top-100 heap
+ sort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78440" y="2103120"/>
            <a:ext cx="1188720" cy="914400"/>
          </a:xfrm>
          <a:prstGeom prst="rect">
            <a:avLst/>
          </a:prstGeom>
          <a:solidFill>
            <a:srgbClr val="F2F5F8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02A43"/>
                </a:solidFill>
              </a:rPr>
              <a:t>Grounded
reasoning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3200400"/>
            <a:ext cx="7498079" cy="502920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→  spec-compliant CSV  (candidate_id, rank, score, reasoning)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23360"/>
            <a:ext cx="11064240" cy="822960"/>
          </a:xfrm>
          <a:prstGeom prst="rect">
            <a:avLst/>
          </a:prstGeom>
          <a:solidFill>
            <a:srgbClr val="1F6FB2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TIER 2 · EVAL HARNESS (offline)  —  planted oracle cases · proxy NDCG/MAP/P@10 vs independent labeler · 60-candidate hand-labeled gold set (MAP=1.0)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206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300">
                <a:solidFill>
                  <a:srgbClr val="404046"/>
                </a:solidFill>
              </a:rPr>
              <a:t>• Stdlib-only (json, heapq, csv, datetime) → reproduces in any sandbox, no dependency risk.</a:t>
            </a:r>
          </a:p>
          <a:p>
            <a:r>
              <a:rPr sz="1300">
                <a:solidFill>
                  <a:srgbClr val="404046"/>
                </a:solidFill>
              </a:rPr>
              <a:t>• No hosted LLM, no GPU, no network anywhere in the ranking path.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Results &amp; Performance</a:t>
            </a:r>
          </a:p>
          <a:p>
            <a:r>
              <a:rPr sz="1300" i="1">
                <a:solidFill>
                  <a:srgbClr val="CFDEEE"/>
                </a:solidFill>
              </a:rPr>
              <a:t>Ranking quality · meeting the runtime &amp; compute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6FB2"/>
                </a:solidFill>
              </a:rPr>
              <a:t>• Ranking quality (validated, not asserted)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04046"/>
                </a:solidFill>
              </a:rPr>
              <a:t>– Hand-labeled gold set (60 candidates): MAP = 1.000, NDCG@10 = 0.96 — the 3 genuine ML candidates ranked at the very top, above ~10 keyword-stuffer traps.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04046"/>
                </a:solidFill>
              </a:rPr>
              <a:t>– Planted regression suite: 8/8 (perfect ≫ stale ≫ stuffer ≈ honeypot ≈ 0).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04046"/>
                </a:solidFill>
              </a:rPr>
              <a:t>– 0 honeypots and 0 keyword-stuffers in the top 100 (honeypot DQ threshold is 10%).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6FB2"/>
                </a:solidFill>
              </a:rPr>
              <a:t>• Compute-constraint compliance (spec §3)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04046"/>
                </a:solidFill>
              </a:rPr>
              <a:t>– ~12 s for 100K on a laptop CPU (budget: 5 min) · streams line-by-line (≪ 16 GB) · CPU-only · no network · zero third-party dependencies → reproduces anywhere.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Technologies Used</a:t>
            </a:r>
          </a:p>
          <a:p>
            <a:r>
              <a:rPr sz="1300" i="1">
                <a:solidFill>
                  <a:srgbClr val="CFDEEE"/>
                </a:solidFill>
              </a:rPr>
              <a:t>What was used, and why it was selected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6FB2"/>
                </a:solidFill>
              </a:rPr>
              <a:t>• Python 3.9+ standard library only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04046"/>
                </a:solidFill>
              </a:rPr>
              <a:t>– json, heapq, csv, datetime, collections — chosen for guaranteed Stage-3 reproducibility (no dependency or version risk in the sandbox).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6FB2"/>
                </a:solidFill>
              </a:rPr>
              <a:t>• Rule-based, explainable scoring (no ML black box)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04046"/>
                </a:solidFill>
              </a:rPr>
              <a:t>– The challenge bans per-candidate LLM calls and rewards CPU-scalable systems; explicit heuristics are fast, defensible at interview, and auditable.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6FB2"/>
                </a:solidFill>
              </a:rPr>
              <a:t>• Streamlit — hosted sandbox UI only (not in the ranking path).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6FB2"/>
                </a:solidFill>
              </a:rPr>
              <a:t>• Claude (Anthropic) — pair-programmer for design &amp; code review; no LLM is called during ranking.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Submission Assets</a:t>
            </a:r>
          </a:p>
          <a:p>
            <a:r>
              <a:rPr sz="1300" i="1">
                <a:solidFill>
                  <a:srgbClr val="CFDEEE"/>
                </a:solidFill>
              </a:rPr>
              <a:t>GitHub · demo video · sandbox · ranked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6FB2"/>
                </a:solidFill>
              </a:rPr>
              <a:t>• GitHub repository:  https://github.com/Shubham-33/evidencerank-redrob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6FB2"/>
                </a:solidFill>
              </a:rPr>
              <a:t>• Hosted sandbox / demo:  https://evidencerank-redrob-dyblpprr79cibcoexhac5t.streamlit.app/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6FB2"/>
                </a:solidFill>
              </a:rPr>
              <a:t>• Live demo:  the hosted Streamlit sandbox (link above) — runs the ranker on any sample.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6FB2"/>
                </a:solidFill>
              </a:rPr>
              <a:t>• Walkthrough:  step-by-step usage &amp; reproduce steps in README.md.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6FB2"/>
                </a:solidFill>
              </a:rPr>
              <a:t>• Ranked submission:  submission.csv  (passes organizer validate_submission.py)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6FB2"/>
                </a:solidFill>
              </a:rPr>
              <a:t>• Reproduce command: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04046"/>
                </a:solidFill>
              </a:rPr>
              <a:t>– python execution/rank.py --candidates ./candidates.jsonl --out ./submission.csv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6FB2"/>
                </a:solidFill>
              </a:rPr>
              <a:t>• Methodology &amp; every eval-gated decision documented in PLAN.md + directives/.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EvidenceRank — evidence over keywords.</a:t>
            </a:r>
          </a:p>
          <a:p>
            <a:pPr algn="ctr"/>
            <a:r>
              <a:rPr sz="1800">
                <a:solidFill>
                  <a:srgbClr val="8EC5F0"/>
                </a:solidFill>
              </a:rPr>
              <a:t>Reproducible · CPU-only · defensible line-by-line.   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